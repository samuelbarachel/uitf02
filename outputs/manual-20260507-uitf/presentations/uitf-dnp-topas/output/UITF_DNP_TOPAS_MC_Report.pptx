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4e0c87d7e4ab2" /><Relationship Type="http://schemas.openxmlformats.org/officeDocument/2006/relationships/extended-properties" Target="/docProps/app.xml" Id="Rcf696724bc034e2c" /><Relationship Type="http://schemas.openxmlformats.org/officeDocument/2006/relationships/officeDocument" Target="/ppt/presentation.xml" Id="Re588e7bb570b42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ab93107113493f"/>
  </p:sldMasterIdLst>
  <p:notesMasterIdLst>
    <p:notesMasterId xmlns:r="http://schemas.openxmlformats.org/officeDocument/2006/relationships" r:id="R174a28cc0efe413f"/>
  </p:notesMasterIdLst>
  <p:sldIdLst>
    <p:sldId xmlns:r="http://schemas.openxmlformats.org/officeDocument/2006/relationships" id="256" r:id="R15fe8dbad1504ae3"/>
    <p:sldId xmlns:r="http://schemas.openxmlformats.org/officeDocument/2006/relationships" id="257" r:id="R2d88004b12b24ada"/>
    <p:sldId xmlns:r="http://schemas.openxmlformats.org/officeDocument/2006/relationships" id="258" r:id="R92a4ba119a704b83"/>
    <p:sldId xmlns:r="http://schemas.openxmlformats.org/officeDocument/2006/relationships" id="259" r:id="Rc95753eb012a4399"/>
    <p:sldId xmlns:r="http://schemas.openxmlformats.org/officeDocument/2006/relationships" id="260" r:id="Rc10241fed54b4114"/>
    <p:sldId xmlns:r="http://schemas.openxmlformats.org/officeDocument/2006/relationships" id="261" r:id="R4b47e012724f497f"/>
    <p:sldId xmlns:r="http://schemas.openxmlformats.org/officeDocument/2006/relationships" id="262" r:id="R5a9848a465e44c18"/>
    <p:sldId xmlns:r="http://schemas.openxmlformats.org/officeDocument/2006/relationships" id="263" r:id="R3492612e993e43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b93107113493f" /><Relationship Type="http://schemas.openxmlformats.org/officeDocument/2006/relationships/theme" Target="/ppt/theme/theme1.xml" Id="R6a1ae69b51954ed3" /><Relationship Type="http://schemas.openxmlformats.org/officeDocument/2006/relationships/notesMaster" Target="/ppt/notesMasters/notesMaster1.xml" Id="R174a28cc0efe413f" /><Relationship Type="http://schemas.openxmlformats.org/officeDocument/2006/relationships/presProps" Target="/ppt/presProps.xml" Id="Raaae2da18daf4e21" /><Relationship Type="http://schemas.openxmlformats.org/officeDocument/2006/relationships/viewProps" Target="/ppt/viewProps.xml" Id="R626960d2499f4769" /><Relationship Type="http://schemas.openxmlformats.org/officeDocument/2006/relationships/tableStyles" Target="/ppt/tableStyles.xml" Id="R3600ba403e534299" /><Relationship Type="http://schemas.openxmlformats.org/officeDocument/2006/relationships/slide" Target="/ppt/slides/slide1.xml" Id="R15fe8dbad1504ae3" /><Relationship Type="http://schemas.openxmlformats.org/officeDocument/2006/relationships/slide" Target="/ppt/slides/slide2.xml" Id="R2d88004b12b24ada" /><Relationship Type="http://schemas.openxmlformats.org/officeDocument/2006/relationships/slide" Target="/ppt/slides/slide3.xml" Id="R92a4ba119a704b83" /><Relationship Type="http://schemas.openxmlformats.org/officeDocument/2006/relationships/slide" Target="/ppt/slides/slide4.xml" Id="Rc95753eb012a4399" /><Relationship Type="http://schemas.openxmlformats.org/officeDocument/2006/relationships/slide" Target="/ppt/slides/slide5.xml" Id="Rc10241fed54b4114" /><Relationship Type="http://schemas.openxmlformats.org/officeDocument/2006/relationships/slide" Target="/ppt/slides/slide6.xml" Id="R4b47e012724f497f" /><Relationship Type="http://schemas.openxmlformats.org/officeDocument/2006/relationships/slide" Target="/ppt/slides/slide7.xml" Id="R5a9848a465e44c18" /><Relationship Type="http://schemas.openxmlformats.org/officeDocument/2006/relationships/slide" Target="/ppt/slides/slide8.xml" Id="R3492612e993e43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0185612d464c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18208c61e74af4" /><Relationship Type="http://schemas.openxmlformats.org/officeDocument/2006/relationships/notesMaster" Target="/ppt/notesMasters/notesMaster1.xml" Id="Rba34b433979e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f49b0d1a4c4bb0" /><Relationship Type="http://schemas.openxmlformats.org/officeDocument/2006/relationships/notesMaster" Target="/ppt/notesMasters/notesMaster1.xml" Id="R43c7970fc30f41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0273433fc54a13" /><Relationship Type="http://schemas.openxmlformats.org/officeDocument/2006/relationships/notesMaster" Target="/ppt/notesMasters/notesMaster1.xml" Id="R4c0f76073a4b4a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cc98c02b034e6c" /><Relationship Type="http://schemas.openxmlformats.org/officeDocument/2006/relationships/notesMaster" Target="/ppt/notesMasters/notesMaster1.xml" Id="R4213aaa4c7bc46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9c335745774c11" /><Relationship Type="http://schemas.openxmlformats.org/officeDocument/2006/relationships/notesMaster" Target="/ppt/notesMasters/notesMaster1.xml" Id="R483ea042929243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1f9d7c92de4409" /><Relationship Type="http://schemas.openxmlformats.org/officeDocument/2006/relationships/notesMaster" Target="/ppt/notesMasters/notesMaster1.xml" Id="Rbb2c4a539a814b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378782c6074440" /><Relationship Type="http://schemas.openxmlformats.org/officeDocument/2006/relationships/notesMaster" Target="/ppt/notesMasters/notesMaster1.xml" Id="Ra8442f955b3d49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0e33f24cd4f66" /><Relationship Type="http://schemas.openxmlformats.org/officeDocument/2006/relationships/notesMaster" Target="/ppt/notesMasters/notesMaster1.xml" Id="Rd834aadd3a9a4b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76128677b47b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1b09486be5844f5" /><Relationship Type="http://schemas.openxmlformats.org/officeDocument/2006/relationships/slideLayout" Target="/ppt/slideLayouts/slideLayout2.xml" Id="R9057198325f545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57198325f545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45abcd77cf4a89" /><Relationship Type="http://schemas.openxmlformats.org/officeDocument/2006/relationships/image" Target="/ppt/media/image.png" Id="Re59fd2e2c3c44868" /><Relationship Type="http://schemas.openxmlformats.org/officeDocument/2006/relationships/notesSlide" Target="/ppt/notesSlides/notesSlide1.xml" Id="R168fecddac994b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c32921a28423b" /><Relationship Type="http://schemas.openxmlformats.org/officeDocument/2006/relationships/image" Target="/ppt/media/image2.png" Id="R85168a2433f549a3" /><Relationship Type="http://schemas.openxmlformats.org/officeDocument/2006/relationships/notesSlide" Target="/ppt/notesSlides/notesSlide2.xml" Id="R140f344615ec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bd3616d12d4da7" /><Relationship Type="http://schemas.openxmlformats.org/officeDocument/2006/relationships/image" Target="/ppt/media/image3.png" Id="Re5f0ed7ad7524aae" /><Relationship Type="http://schemas.openxmlformats.org/officeDocument/2006/relationships/image" Target="/ppt/media/image4.png" Id="R8be247deccc647d2" /><Relationship Type="http://schemas.openxmlformats.org/officeDocument/2006/relationships/notesSlide" Target="/ppt/notesSlides/notesSlide3.xml" Id="R148869bd7db442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3dcb061644972" /><Relationship Type="http://schemas.openxmlformats.org/officeDocument/2006/relationships/image" Target="/ppt/media/image5.png" Id="R2c96b1ec22e140b9" /><Relationship Type="http://schemas.openxmlformats.org/officeDocument/2006/relationships/image" Target="/ppt/media/image6.png" Id="Rfd4bd83f298b40bf" /><Relationship Type="http://schemas.openxmlformats.org/officeDocument/2006/relationships/notesSlide" Target="/ppt/notesSlides/notesSlide4.xml" Id="Rd2ec2f64e09b42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92dd7cb83a47d4" /><Relationship Type="http://schemas.openxmlformats.org/officeDocument/2006/relationships/image" Target="/ppt/media/image7.png" Id="Rc996d86161b149fd" /><Relationship Type="http://schemas.openxmlformats.org/officeDocument/2006/relationships/image" Target="/ppt/media/image8.png" Id="Rbe764dda9c724106" /><Relationship Type="http://schemas.openxmlformats.org/officeDocument/2006/relationships/notesSlide" Target="/ppt/notesSlides/notesSlide5.xml" Id="Rb24320acc1a749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f032ad89984fe8" /><Relationship Type="http://schemas.openxmlformats.org/officeDocument/2006/relationships/image" Target="/ppt/media/image9.png" Id="R1383c89dddbe4d9b" /><Relationship Type="http://schemas.openxmlformats.org/officeDocument/2006/relationships/image" Target="/ppt/media/image10.png" Id="Ra1a7557dd43e42aa" /><Relationship Type="http://schemas.openxmlformats.org/officeDocument/2006/relationships/notesSlide" Target="/ppt/notesSlides/notesSlide6.xml" Id="R8727acf559e94f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fe440afc649b1" /><Relationship Type="http://schemas.openxmlformats.org/officeDocument/2006/relationships/notesSlide" Target="/ppt/notesSlides/notesSlide7.xml" Id="R49db1ead0b5b48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beb814ac21479b" /><Relationship Type="http://schemas.openxmlformats.org/officeDocument/2006/relationships/image" Target="/ppt/media/image11.png" Id="Rec930899c38048c3" /><Relationship Type="http://schemas.openxmlformats.org/officeDocument/2006/relationships/notesSlide" Target="/ppt/notesSlides/notesSlide8.xml" Id="R5386c84cf7a04e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D094C3-31F4-49FC-8370-7FB1F3AF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UITF DNP Target Irradiation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8288D-652D-403A-BD0A-DC821B01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00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TOPAS Monte Carlo supports the proposal front/back irradiation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5F641-4E68-4C95-ADCA-928F86F1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8 MeV electrons through the cryostat, aluminum spreading window, liquid helium bath, and packed ND3 target volume. Results are based on the completed 100M front and 100M back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20B10-1420-4A4F-BF4C-5B43916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2333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F66A7-9F2A-4D1A-9C24-19281159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Histories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D6D59-CDD5-47E4-ACE1-21DDF5DA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E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2EF2"/>
                </a:solidFill>
                <a:latin typeface="Aptos"/>
                <a:ea typeface="Aptos"/>
                <a:cs typeface="Aptos"/>
              </a:rPr>
              <a:t>100M + 100M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664E8-3D2E-40C9-BF6F-3BA67D0F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DA972-F296-4224-8B9A-F28FE6B5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62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Cold 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E581F-D3F1-406E-AC6C-92DD9C38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1 uA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AFDEF-5EE5-42EF-ACA9-843B00BB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289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8F447-9E05-4B3E-A702-F1D6CA3C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62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Warm current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3EC98-97A6-48A9-8C2A-3044CCE1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909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10 uA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BE8CE-A5A9-43C4-8989-BD3933D4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17F01-E4D3-4799-982A-3C231C6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EF8FA-9166-4C33-9775-891BA9F7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9D7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9D71"/>
                </a:solidFill>
                <a:latin typeface="Aptos"/>
                <a:ea typeface="Aptos"/>
                <a:cs typeface="Aptos"/>
              </a:rPr>
              <a:t>250 mg ND3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1641D-53F7-4684-80CB-7E4D2730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66750"/>
            <a:ext cx="4724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4E3C7-21BF-4118-A7C3-BFE8DC1B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001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front/back dose proof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fd2e2c3c44868"/>
          <a:stretch xmlns:a="http://schemas.openxmlformats.org/drawingml/2006/main"/>
        </p:blipFill>
        <p:spPr>
          <a:xfrm xmlns:a="http://schemas.openxmlformats.org/drawingml/2006/main">
            <a:off x="8295761" y="1085850"/>
            <a:ext cx="1925079" cy="15049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9E86E-F0BE-43BA-978A-F6E7E81D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11252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612F8-3E54-4594-B334-211E5CCF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Main claim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9D423-562E-419D-AAC3-2428A0F9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The simulation now matches the proposal's required two-sided irradiation logic: one pass is range-limited, while front + back superposition gives the target-volume dose field used for interpretation.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DD2A2-C0A7-4A8E-9573-AAB2BDC0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TOPAS / Geant4 MC | UITF DNP target irradiation | generated May 7,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71FEF-66E0-4471-BE65-71660D63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8257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B64379-F0FB-4911-BF5C-ACD13767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PROPOSAL RECREATION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9E565-6991-4881-ADEC-4FC2824D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The model tracks the beamline and batch protocol the proposal actually describes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EFE85-797D-45A7-AC25-0B234518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D8E2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DDFD2-93DB-4CE1-B13D-9FDDA1F6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8CFD3-BC50-4753-8B88-11D8BC57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Beam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4BC1F-1397-46DE-8345-63B33AD4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479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8 MeV electrons, 1-10 uA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C347B-077C-4BA4-A0BA-46C8BC08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84AA3-69DA-40D2-95B8-84E63AB4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D73FA-62A2-4629-94CD-9F303F67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03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250 mg packed ND3 in 6.5 cm x 1.42 cm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A90B-0FBE-4951-85AF-7ED2F2F1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BF668-98B8-4AB5-B644-8D57CA11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7B68B-5278-4CDE-956A-DFD10BBF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528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cryostat windows, liquid helium bath, target holder, front/back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431C2-AC87-44F2-B319-C32E74AA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9771B-64D6-4BBB-AB52-33CA05C6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Warm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6B182-9FAA-46F1-A838-AE0E705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05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1.0e17 e-/cm2 per side at 10 uA, 2.85 h/side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E6912-07C9-4ECF-9FD3-197287B8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65658-BF0C-45E6-9302-BC24F09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Cold 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3E0F7-C4E0-46F3-B0CF-93619567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577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5.0e15 e-/cm2 per side at 1 uA, 1.42 h/side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4D351-7DAC-4D3A-B33A-AFBF50DB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33285-8505-4527-A20D-C47DA5C9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7CDD5-0284-4BCA-B2C0-25D5F022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01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two-sided irradiation because 8 MeV electrons are range-limited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62CEC-129F-4C71-84F5-27D8FBFF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59055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CED7D-1120-4F47-8554-0BDF14A4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86000"/>
            <a:ext cx="556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front/back run pairing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68a2433f549a3"/>
          <a:stretch xmlns:a="http://schemas.openxmlformats.org/drawingml/2006/main"/>
        </p:blipFill>
        <p:spPr>
          <a:xfrm xmlns:a="http://schemas.openxmlformats.org/drawingml/2006/main">
            <a:off x="6800297" y="2571750"/>
            <a:ext cx="2972906" cy="23241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740A7-7E3F-4409-B625-3F6DDDF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76850"/>
            <a:ext cx="590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F6D5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30267-1863-4089-841E-4E7A0A6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864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3"/>
          </a:solidFill>
          <a:ln xmlns:a="http://schemas.openxmlformats.org/drawingml/2006/main" w="0">
            <a:solidFill>
              <a:srgbClr val="FFF0E3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Single-bead microdosimetry was removed from the report figures: the proposal mentions 1 mm target spheres, but it does not use single-bead dose as an experimental observable.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320A6-0C5B-4C8C-9AB9-4F713346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TOPAS / Geant4 MC | UITF DNP target irradiation | generated May 7,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3F767-1764-4043-924E-DADA5C24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4460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A55C2-85FC-4156-8501-9AF23774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DOSE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6E25C-EB68-4B98-943F-7D46B419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Front + back superposition is the key physics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B2665-F249-4B2D-9BD2-75C5841E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D8E2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BE29E-8649-4ECB-A7AF-524BAE3B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4768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BA3E4-64D9-4A01-9032-1329184F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5133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individual sides plus combined profile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0ed7ad7524aae"/>
          <a:stretch xmlns:a="http://schemas.openxmlformats.org/drawingml/2006/main"/>
        </p:blipFill>
        <p:spPr>
          <a:xfrm xmlns:a="http://schemas.openxmlformats.org/drawingml/2006/main">
            <a:off x="1292705" y="2514600"/>
            <a:ext cx="3996366" cy="3124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9C730-525A-4638-8B65-EA0A188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C8181-9706-4261-8A64-3D557F6E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combined cold dose-depth profile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247deccc647d2"/>
          <a:stretch xmlns:a="http://schemas.openxmlformats.org/drawingml/2006/main"/>
        </p:blipFill>
        <p:spPr>
          <a:xfrm xmlns:a="http://schemas.openxmlformats.org/drawingml/2006/main">
            <a:off x="6932006" y="2514600"/>
            <a:ext cx="4042989" cy="3124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DD7D6-3316-4712-B48D-ABC3DA28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66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C9EA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157DD-C97F-41E4-B56D-4D503D77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0"/>
          </a:solidFill>
          <a:ln xmlns:a="http://schemas.openxmlformats.org/drawingml/2006/main" w="0">
            <a:solidFill>
              <a:srgbClr val="E9F8F0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Cold mean cumulative dose: one side 1.317e6 Gy; front + back 2.633e6 Gy. The combined curve is not just a copy of one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E708F-02CF-4FBE-8CAB-84ACF1F7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TOPAS / Geant4 MC | UITF DNP target irradiation | generated May 7,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9CFA0-0B53-43CF-A35F-DCA4C734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9834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6E784D-A3C8-4EEC-9DF8-5E06B0C2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SPATIAL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1516F-8D7B-486C-9A8B-2F13ED4D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The combined dose map is now superimposed across depth and radius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8B699-7D77-465E-ABF2-74BB28F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D8E2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06F98-F55D-49A5-B6C9-0FB4A5A2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671512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AD116-6449-4EE2-B193-8A7A562C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372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2D R-Z dose map, front + back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6b1ec22e140b9"/>
          <a:stretch xmlns:a="http://schemas.openxmlformats.org/drawingml/2006/main"/>
        </p:blipFill>
        <p:spPr>
          <a:xfrm xmlns:a="http://schemas.openxmlformats.org/drawingml/2006/main">
            <a:off x="1720973" y="2495550"/>
            <a:ext cx="4301879" cy="3314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BB96D-5867-4375-ACC4-45489759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619500" cy="3905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067C3-E722-48AB-A2D4-DD563D3C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3276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raw radial dose profile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bd83f298b40bf"/>
          <a:stretch xmlns:a="http://schemas.openxmlformats.org/drawingml/2006/main"/>
        </p:blipFill>
        <p:spPr>
          <a:xfrm xmlns:a="http://schemas.openxmlformats.org/drawingml/2006/main">
            <a:off x="7696200" y="2887410"/>
            <a:ext cx="3276600" cy="253098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7BFA1-B598-4B70-9D1B-10DC97EF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990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This is the slide to use when someone asks whether the target volume is being covered, not just whether the central depth profile looks good.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9AC20-354D-4C99-88A5-66A5549C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TOPAS / Geant4 MC | UITF DNP target irradiation | generated May 7,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715D4-2D1C-49A5-932A-846B6934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4948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C5024B-C33B-4B98-9ADD-47F4F0E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ELECTRON TRANSPORT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6F68C-CBAB-49B5-8DAC-7229AB5D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Fluence and material electron density are shown without normalization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44F9E-E6F8-4332-A168-F96B665C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D8E2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769CC-F3E6-48FC-93DA-556374F6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3D5B5-1FEE-4F56-BF23-861FBE59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electron fluence scorer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6d86161b149fd"/>
          <a:stretch xmlns:a="http://schemas.openxmlformats.org/drawingml/2006/main"/>
        </p:blipFill>
        <p:spPr>
          <a:xfrm xmlns:a="http://schemas.openxmlformats.org/drawingml/2006/main">
            <a:off x="1175908" y="2476500"/>
            <a:ext cx="4087084" cy="3124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5A548-0270-43AB-8B42-7D62EAF6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21792-217E-4183-978C-A9C1A891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ND3 material electron density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64dda9c724106"/>
          <a:stretch xmlns:a="http://schemas.openxmlformats.org/drawingml/2006/main"/>
        </p:blipFill>
        <p:spPr>
          <a:xfrm xmlns:a="http://schemas.openxmlformats.org/drawingml/2006/main">
            <a:off x="6864103" y="2476500"/>
            <a:ext cx="4064493" cy="3124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160B9-3211-4CBD-9CF2-915240B4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572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2F4B8-7BFE-45AC-87E9-7F49EDDF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62650"/>
            <a:ext cx="1009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The density curve is not particle fluence. It is the ND3 electron density computed from composition and density; the packed target volume is much lower than solid ND3 because the 250 mg batch is distributed over the holder volume.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69BFD-AC74-4A16-A8A5-ABEA0D7D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TOPAS / Geant4 MC | UITF DNP target irradiation | generated May 7,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7DEF5-1349-4E2D-806A-8C81E37A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6510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11A63-278B-45DF-B1E8-52553DCD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FEASIBILITY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55B6A-452B-4319-BAAE-B326C1E4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Spectra and heat load show whether the proposed currents are plausible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2E50B-33D5-4304-A8B5-55D6A2F3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D8E2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F50DC-93F2-46C1-893F-A083BF9F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F418A-AC06-459A-8072-6DC908B1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entrance electrons and exit photons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3c89dddbe4d9b"/>
          <a:stretch xmlns:a="http://schemas.openxmlformats.org/drawingml/2006/main"/>
        </p:blipFill>
        <p:spPr>
          <a:xfrm xmlns:a="http://schemas.openxmlformats.org/drawingml/2006/main">
            <a:off x="1237491" y="2476500"/>
            <a:ext cx="3963919" cy="3124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6D8F-D64C-47E2-8A64-E3760641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D92A1-12E1-4BBB-926C-DA7925EC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target heat load versus current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7557dd43e42aa"/>
          <a:stretch xmlns:a="http://schemas.openxmlformats.org/drawingml/2006/main"/>
        </p:blipFill>
        <p:spPr>
          <a:xfrm xmlns:a="http://schemas.openxmlformats.org/drawingml/2006/main">
            <a:off x="6876818" y="2476500"/>
            <a:ext cx="4039065" cy="3124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4A4BD-4D86-40EE-BBBD-6E3D189C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- Cold irradiation at 1 uA is the relevant low-heat condition for 2 K running.</a:t>
            </a:r>
          </a:p>
          <a:p xmlns:a="http://schemas.openxmlformats.org/drawingml/2006/main">
            <a:pPr algn="l">
              <a:defRPr sz="1050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- Warm 10 uA running is evaluated separately because heat load is not simultaneous front + back.</a:t>
            </a:r>
          </a:p>
          <a:p xmlns:a="http://schemas.openxmlformats.org/drawingml/2006/main">
            <a:pPr algn="l">
              <a:defRPr sz="1050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- Spectra confirm the nominal 8 MeV entrance beam and the secondary photon component.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0B036-D428-421F-9941-49A3474D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TOPAS / Geant4 MC | UITF DNP target irradiation | generated May 7,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A4D18-4F20-451F-8A08-E4444D40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6139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8AD108-E863-45C0-A5A2-6B7603B2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2B24C-0453-4509-9B14-D3E48F48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What this deck can safely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D73BD-2535-4452-8606-CD802519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D8E2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3FA51-CEC8-4BC8-9829-66FBC5CA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09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8315D-16AF-4858-9431-CB5FE081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955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0"/>
          </a:solidFill>
          <a:ln xmlns:a="http://schemas.openxmlformats.org/drawingml/2006/main" w="0">
            <a:solidFill>
              <a:srgbClr val="E9F8F0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D7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9D7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E4F44-EDB1-4F7B-BFE4-BB17D658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0"/>
          </a:solidFill>
          <a:ln xmlns:a="http://schemas.openxmlformats.org/drawingml/2006/main" w="0">
            <a:solidFill>
              <a:srgbClr val="E9F8F0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Geometry, beam energy, target dimensions, front/back timing, and fluence targets match the proposal.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56B0D-DDDC-4B48-9B9F-5B4E4F43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009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A36F3-D716-4658-B87F-96238E5A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0"/>
          </a:solidFill>
          <a:ln xmlns:a="http://schemas.openxmlformats.org/drawingml/2006/main" w="0">
            <a:solidFill>
              <a:srgbClr val="E9F8F0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D7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9D7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0538E-AD2E-4DE3-B7B2-7A0ABD55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527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0"/>
          </a:solidFill>
          <a:ln xmlns:a="http://schemas.openxmlformats.org/drawingml/2006/main" w="0">
            <a:solidFill>
              <a:srgbClr val="E9F8F0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The 100M front/back analysis is loaded from both completed output folders and superimposed in depth and R-Z maps.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BAFA9-BECB-457C-8ED8-5C8744B2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009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7C327-E5E9-4C48-B652-B3E07C03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Useful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60AC2-41E4-4C05-83D7-289094B4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Electron fluence and material electron density are unnormalized and separated conceptually.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11342-B3FB-4D0C-987D-FA1033CD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009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068B7-9352-4F28-A36E-31B066D1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2D9"/>
                </a:solidFill>
                <a:latin typeface="Aptos"/>
                <a:ea typeface="Aptos"/>
                <a:cs typeface="Aptos"/>
              </a:rPr>
              <a:t>Useful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138E3-CFE6-43AD-9F53-5B46E1D1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243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Heat load is quoted per irradiation side, matching the actual procedure.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7B317-0B43-4903-B472-5E23F76D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009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4C926-BB2B-4540-A5A8-2594FFC3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3"/>
          </a:solidFill>
          <a:ln xmlns:a="http://schemas.openxmlformats.org/drawingml/2006/main" w="0">
            <a:solidFill>
              <a:srgbClr val="FFF0E3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D6D62-27F1-4DC3-B434-97803B6E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3"/>
          </a:solidFill>
          <a:ln xmlns:a="http://schemas.openxmlformats.org/drawingml/2006/main" w="0">
            <a:solidFill>
              <a:srgbClr val="FFF0E3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333"/>
                </a:solidFill>
                <a:latin typeface="Aptos"/>
                <a:ea typeface="Aptos"/>
                <a:cs typeface="Aptos"/>
              </a:rPr>
              <a:t>No measured DNP polarization or ESR radical population is predicted by TOPAS alone.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26199-C3E5-4988-9AA8-BBD31C28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TOPAS / Geant4 MC | UITF DNP target irradiation | generated May 7,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EC180-6F48-44B8-A6B7-F0B10BBE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1560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EEA2A3-F46A-4DF1-B567-F7F8162F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D0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5D04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EB1D0-656B-4D2F-8F0A-2BF00700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3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333"/>
                </a:solidFill>
                <a:latin typeface="Aptos"/>
                <a:ea typeface="Aptos"/>
                <a:cs typeface="Aptos"/>
              </a:rPr>
              <a:t>Acronym quick reference for the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29A7A-07AB-4610-816C-353B41B8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D8E2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11DF4-E147-45A3-B3EA-D6DC565E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9906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A42A3-D556-47D4-AF27-531A5321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956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definitions used in the figures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30899c38048c3"/>
          <a:stretch xmlns:a="http://schemas.openxmlformats.org/drawingml/2006/main"/>
        </p:blipFill>
        <p:spPr>
          <a:xfrm xmlns:a="http://schemas.openxmlformats.org/drawingml/2006/main">
            <a:off x="1742754" y="2457450"/>
            <a:ext cx="8706492" cy="3409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83AA8-EFB6-48E2-94BD-36A25CD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16176"/>
                </a:solidFill>
                <a:latin typeface="Aptos"/>
                <a:ea typeface="Aptos"/>
                <a:cs typeface="Aptos"/>
              </a:rPr>
              <a:t>TOPAS / Geant4 MC | UITF DNP target irradiation | generated May 7,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9B7B3-54C6-46D4-98B0-93E8FE36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61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1617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0985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2026-05-07T13:18:28.3380000Z</dcterms:created>
  <dcterms:modified xsi:type="dcterms:W3CDTF">2026-05-07T13:18:28.3380000Z</dcterms:modified>
</coreProperties>
</file>